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5" r:id="rId9"/>
    <p:sldId id="264" r:id="rId10"/>
    <p:sldId id="263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78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58F8-4D76-0BE4-B35E-150AB41CB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59487-3B11-123D-620C-D07FEC9DC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6CE1C-5BF1-3012-3D99-EB2F3783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39AAF-4CCF-80AC-74EB-DDD072E6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605D7-E8B9-0914-947D-2AA17AD6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3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8D8D-9AEC-3A87-42B9-ABF9C888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932B6-0CB3-DAC8-E0CE-7245F25C7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B2A04-A200-B791-6393-0E336BD5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60F20-31D9-FF56-018B-BDA8B2E3C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BC557-BD24-9BC8-6C91-2E347902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82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E7CB8-1C6B-1E09-7AB2-609EE452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A1B79-11F8-534E-5BC2-F6FD2F340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09884-B307-6901-DD43-4FA38E150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E751A-4D4B-BD55-6987-AA3120902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48F44-40AA-8805-676C-66421CFA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3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E68D-7F60-DD9E-7F5C-CC091C06C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0AAEC-0B62-9C2B-A52A-3C84846A2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EE385-B818-2595-F011-CB915D1FD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18C0D-C309-98A7-6BEF-2019BE894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B003E-124C-785C-6706-8512E3EF3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2858C-70FA-84B6-8E31-0D58EAFF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41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3F6C-FFAA-9F64-A934-A61DB88E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02D0C-70FA-9874-4ACB-652BC9675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ECD93-7B1E-8A84-6C47-69F29A865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D0F28-69FD-9EDE-A545-C7491267B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18D077-ECA1-0627-4F17-249194ECE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5799B-62CD-40C2-13A8-E094D880A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4C87DD-EDB9-AAA6-29EF-9CCC6D9A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BCACB-D5B4-4119-8C64-2A311CF6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9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F885-66C1-EC49-B317-052F958F7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02D784-149E-DFB4-C5CD-525BEC1A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BB26A-1986-C0DC-EA8F-891EDF04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A70A4-C8B7-71BD-FF1E-8B2D2BE3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3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D3C25-5FB4-1091-7596-ADDC8FC6A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BC6C-4897-9403-80FD-671CC8100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4B674-AFB8-DF4B-2BC2-6391D3A5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54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2B563-C293-A434-4446-F987B80B2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6333C-38E9-2EBF-3DE0-3874E5AAF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DB3F2-9D93-1B04-F386-3AF7B4EB7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53B52-D730-E41D-6A29-8FFA5CDE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0890F-C4E3-9D76-F461-D2A173A5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2F329-4BE9-CCC0-4820-E055B400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18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AC17-B6CF-78DA-A587-C2107AFC5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BAA58-8BDD-A110-2BFC-3844CBFE3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76970-EF5A-D316-9306-C142E46DA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D68B1-964B-A38A-A974-9B7AF0013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02AD1-BDD7-BECA-AFD2-1EDCAA1D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D134D-ECF5-3198-E5EF-063FDD39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5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4C82-6519-CDEF-4C99-13FD1971F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2EADB-FED1-ACAE-19D9-F6A333491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2656-7431-A757-7EEC-8B6E7388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C374D-D514-2626-7B1D-FF26AE205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0AA31-E9C4-3237-07AD-580D806C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0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D2E016-0ED3-9FE0-80E4-BEA103F51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D8046-9A60-51AB-31DA-540F6308F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5889F-56FF-54BD-514B-62FA6853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F16E1-9115-C087-7745-79D8AF6E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AAFC1-1EDE-7F21-2379-74BCF7EF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23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68CB2-848B-8AB6-2812-323BFBCAB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B27C9-71B3-F08E-D959-C1FBAD0B4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9EF03-13F4-6556-A8E3-43F3B62B8B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8B691-BA20-4A7C-A2DA-A94C5FBBF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5F22A-5AAC-03DC-FAE5-11C27164B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6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272A-0F84-4B21-362A-22257C83F7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Claude Skills for Intelligent Textbooks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EE314-40CF-6ED1-D5B1-E34030F6B1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 McCreary</a:t>
            </a:r>
          </a:p>
          <a:p>
            <a:r>
              <a:rPr lang="en-US" dirty="0"/>
              <a:t>December 1</a:t>
            </a:r>
            <a:r>
              <a:rPr lang="en-US" baseline="30000" dirty="0"/>
              <a:t>st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301195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A79C7D-42EA-C222-7EA9-B61D81C52F25}"/>
              </a:ext>
            </a:extLst>
          </p:cNvPr>
          <p:cNvSpPr/>
          <p:nvPr/>
        </p:nvSpPr>
        <p:spPr>
          <a:xfrm>
            <a:off x="2583272" y="329656"/>
            <a:ext cx="6716111" cy="11456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Course Description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3307A1-E4C5-D9D7-3710-70EBE6E38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682" y="2014829"/>
            <a:ext cx="4957291" cy="256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0C8B2F7-A4E4-6DF3-94F3-361697B5FF02}"/>
              </a:ext>
            </a:extLst>
          </p:cNvPr>
          <p:cNvSpPr/>
          <p:nvPr/>
        </p:nvSpPr>
        <p:spPr>
          <a:xfrm>
            <a:off x="2583272" y="5350619"/>
            <a:ext cx="6716111" cy="11456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Intelligent Textbook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EA74CD-C46C-2154-315A-6623141089BA}"/>
              </a:ext>
            </a:extLst>
          </p:cNvPr>
          <p:cNvCxnSpPr>
            <a:stCxn id="7" idx="2"/>
            <a:endCxn id="1026" idx="0"/>
          </p:cNvCxnSpPr>
          <p:nvPr/>
        </p:nvCxnSpPr>
        <p:spPr>
          <a:xfrm>
            <a:off x="5941328" y="1475283"/>
            <a:ext cx="0" cy="539546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7B8077-CCC7-5B93-6FB4-9E6D48E5354F}"/>
              </a:ext>
            </a:extLst>
          </p:cNvPr>
          <p:cNvCxnSpPr>
            <a:cxnSpLocks/>
            <a:stCxn id="1026" idx="2"/>
            <a:endCxn id="8" idx="0"/>
          </p:cNvCxnSpPr>
          <p:nvPr/>
        </p:nvCxnSpPr>
        <p:spPr>
          <a:xfrm>
            <a:off x="5941328" y="4584119"/>
            <a:ext cx="0" cy="76650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29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EA23-ACA3-8210-7B4E-2832700C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13" y="278628"/>
            <a:ext cx="10515600" cy="746983"/>
          </a:xfrm>
        </p:spPr>
        <p:txBody>
          <a:bodyPr/>
          <a:lstStyle/>
          <a:p>
            <a:r>
              <a:rPr lang="en-US" dirty="0"/>
              <a:t>Five Levels of Intelligent Textbooks</a:t>
            </a:r>
          </a:p>
        </p:txBody>
      </p:sp>
      <p:pic>
        <p:nvPicPr>
          <p:cNvPr id="5" name="Picture 4" descr="A diagram of text on a computer&#10;&#10;AI-generated content may be incorrect.">
            <a:extLst>
              <a:ext uri="{FF2B5EF4-FFF2-40B4-BE49-F238E27FC236}">
                <a16:creationId xmlns:a16="http://schemas.microsoft.com/office/drawing/2014/main" id="{1D70AFF0-32AA-8771-4CE7-D28F540A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44" y="1266659"/>
            <a:ext cx="9284704" cy="5001907"/>
          </a:xfrm>
          <a:prstGeom prst="rect">
            <a:avLst/>
          </a:prstGeom>
        </p:spPr>
      </p:pic>
      <p:sp>
        <p:nvSpPr>
          <p:cNvPr id="6" name="Left Arrow 5">
            <a:extLst>
              <a:ext uri="{FF2B5EF4-FFF2-40B4-BE49-F238E27FC236}">
                <a16:creationId xmlns:a16="http://schemas.microsoft.com/office/drawing/2014/main" id="{E0A5777A-F61B-9986-3909-16859AFEC62C}"/>
              </a:ext>
            </a:extLst>
          </p:cNvPr>
          <p:cNvSpPr/>
          <p:nvPr/>
        </p:nvSpPr>
        <p:spPr>
          <a:xfrm>
            <a:off x="9919586" y="4355677"/>
            <a:ext cx="1124465" cy="86497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Today</a:t>
            </a:r>
          </a:p>
        </p:txBody>
      </p:sp>
    </p:spTree>
    <p:extLst>
      <p:ext uri="{BB962C8B-B14F-4D97-AF65-F5344CB8AC3E}">
        <p14:creationId xmlns:p14="http://schemas.microsoft.com/office/powerpoint/2010/main" val="1537415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85389-81DA-B29A-2083-CA73E4EFE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09" y="186995"/>
            <a:ext cx="10515600" cy="1325563"/>
          </a:xfrm>
        </p:spPr>
        <p:txBody>
          <a:bodyPr/>
          <a:lstStyle/>
          <a:p>
            <a:r>
              <a:rPr lang="en-US" dirty="0"/>
              <a:t>Bloom 2001 Taxonomy</a:t>
            </a:r>
          </a:p>
        </p:txBody>
      </p:sp>
      <p:pic>
        <p:nvPicPr>
          <p:cNvPr id="5" name="Picture 4" descr="A rainbow pyramid with text&#10;&#10;AI-generated content may be incorrect.">
            <a:extLst>
              <a:ext uri="{FF2B5EF4-FFF2-40B4-BE49-F238E27FC236}">
                <a16:creationId xmlns:a16="http://schemas.microsoft.com/office/drawing/2014/main" id="{4591B8CC-4CBA-54A5-31A8-C9CD9ED2D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44" y="1328102"/>
            <a:ext cx="6838759" cy="525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4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DF61-5E69-7B17-8802-13285293D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67" y="303342"/>
            <a:ext cx="10515600" cy="1325563"/>
          </a:xfrm>
        </p:spPr>
        <p:txBody>
          <a:bodyPr/>
          <a:lstStyle/>
          <a:p>
            <a:r>
              <a:rPr lang="en-US" dirty="0"/>
              <a:t>Installation Dependency Graph</a:t>
            </a: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415F1B5C-2008-C843-6045-729DCDAC8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7447"/>
            <a:ext cx="11947498" cy="503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1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73CC-C4B8-30DD-8237-991B1A7E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46" y="204488"/>
            <a:ext cx="10515600" cy="598702"/>
          </a:xfrm>
        </p:spPr>
        <p:txBody>
          <a:bodyPr>
            <a:normAutofit fontScale="90000"/>
          </a:bodyPr>
          <a:lstStyle/>
          <a:p>
            <a:r>
              <a:rPr lang="en-US" dirty="0"/>
              <a:t>Book Build Workflow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7161F8E0-C5B4-4B43-4612-054710CCD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62" y="778474"/>
            <a:ext cx="3322938" cy="5733697"/>
          </a:xfrm>
          <a:prstGeom prst="rect">
            <a:avLst/>
          </a:prstGeom>
        </p:spPr>
      </p:pic>
      <p:pic>
        <p:nvPicPr>
          <p:cNvPr id="7" name="Picture 6" descr="A diagram of a question&#10;&#10;AI-generated content may be incorrect.">
            <a:extLst>
              <a:ext uri="{FF2B5EF4-FFF2-40B4-BE49-F238E27FC236}">
                <a16:creationId xmlns:a16="http://schemas.microsoft.com/office/drawing/2014/main" id="{B937FDE5-EF85-C749-FE41-7BB192DF8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058" y="160638"/>
            <a:ext cx="306832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50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130B4-A891-3E4D-667F-FFD71847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57119" cy="1325563"/>
          </a:xfrm>
        </p:spPr>
        <p:txBody>
          <a:bodyPr/>
          <a:lstStyle/>
          <a:p>
            <a:r>
              <a:rPr lang="en-US" dirty="0"/>
              <a:t>Course Description</a:t>
            </a:r>
            <a:br>
              <a:rPr lang="en-US" dirty="0"/>
            </a:br>
            <a:r>
              <a:rPr lang="en-US" dirty="0"/>
              <a:t>Quality</a:t>
            </a:r>
          </a:p>
        </p:txBody>
      </p:sp>
      <p:pic>
        <p:nvPicPr>
          <p:cNvPr id="5" name="Picture 4" descr="A diagram of a quality score&#10;&#10;AI-generated content may be incorrect.">
            <a:extLst>
              <a:ext uri="{FF2B5EF4-FFF2-40B4-BE49-F238E27FC236}">
                <a16:creationId xmlns:a16="http://schemas.microsoft.com/office/drawing/2014/main" id="{E8E85C3B-4003-5CCC-4852-BB86394A8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91" y="272686"/>
            <a:ext cx="4734831" cy="6424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8085B-57C5-4410-FD59-32E81C40172B}"/>
              </a:ext>
            </a:extLst>
          </p:cNvPr>
          <p:cNvSpPr txBox="1"/>
          <p:nvPr/>
        </p:nvSpPr>
        <p:spPr>
          <a:xfrm>
            <a:off x="276823" y="6338534"/>
            <a:ext cx="627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dmccreary.github.io</a:t>
            </a:r>
            <a:r>
              <a:rPr lang="en-US" dirty="0"/>
              <a:t>/claude-skills/course-description/</a:t>
            </a:r>
          </a:p>
        </p:txBody>
      </p:sp>
    </p:spTree>
    <p:extLst>
      <p:ext uri="{BB962C8B-B14F-4D97-AF65-F5344CB8AC3E}">
        <p14:creationId xmlns:p14="http://schemas.microsoft.com/office/powerpoint/2010/main" val="3088572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AC5BF-7294-03A4-0602-1C432100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315698"/>
            <a:ext cx="4129216" cy="672843"/>
          </a:xfrm>
        </p:spPr>
        <p:txBody>
          <a:bodyPr>
            <a:normAutofit fontScale="90000"/>
          </a:bodyPr>
          <a:lstStyle/>
          <a:p>
            <a:r>
              <a:rPr lang="en-US" dirty="0"/>
              <a:t>List of Concepts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CFE5D9F4-85CA-01D9-83BE-6FC096C1B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910" y="527489"/>
            <a:ext cx="3863557" cy="56800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69C99-AE79-D62B-008C-B1C519DD0059}"/>
              </a:ext>
            </a:extLst>
          </p:cNvPr>
          <p:cNvSpPr txBox="1"/>
          <p:nvPr/>
        </p:nvSpPr>
        <p:spPr>
          <a:xfrm>
            <a:off x="285008" y="6329548"/>
            <a:ext cx="7105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dmccreary.github.io</a:t>
            </a:r>
            <a:r>
              <a:rPr lang="en-US" dirty="0"/>
              <a:t>/claude-skills/learning-graph/concept-list/</a:t>
            </a:r>
          </a:p>
        </p:txBody>
      </p:sp>
    </p:spTree>
    <p:extLst>
      <p:ext uri="{BB962C8B-B14F-4D97-AF65-F5344CB8AC3E}">
        <p14:creationId xmlns:p14="http://schemas.microsoft.com/office/powerpoint/2010/main" val="2428380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1668-E7B7-F308-B13A-B5FF3AC3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78" y="192130"/>
            <a:ext cx="3956222" cy="808767"/>
          </a:xfrm>
        </p:spPr>
        <p:txBody>
          <a:bodyPr/>
          <a:lstStyle/>
          <a:p>
            <a:r>
              <a:rPr lang="en-US" dirty="0"/>
              <a:t>Learning Graph</a:t>
            </a:r>
          </a:p>
        </p:txBody>
      </p:sp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095091D2-B985-F683-A3DA-8D089D41F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788" y="926000"/>
            <a:ext cx="7374141" cy="53414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BA3D2B-B3A1-408A-781C-A9497C206EB4}"/>
              </a:ext>
            </a:extLst>
          </p:cNvPr>
          <p:cNvSpPr txBox="1"/>
          <p:nvPr/>
        </p:nvSpPr>
        <p:spPr>
          <a:xfrm>
            <a:off x="1959429" y="6353299"/>
            <a:ext cx="723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dmccreary.github.io</a:t>
            </a:r>
            <a:r>
              <a:rPr lang="en-US" dirty="0"/>
              <a:t>/claude-skills/sims/graph-viewer/</a:t>
            </a:r>
            <a:r>
              <a:rPr lang="en-US" dirty="0" err="1"/>
              <a:t>main.html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06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BC6EC-AD37-E0C0-D1EA-7E2DF7A1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73" y="340411"/>
            <a:ext cx="4363995" cy="1325563"/>
          </a:xfrm>
        </p:spPr>
        <p:txBody>
          <a:bodyPr/>
          <a:lstStyle/>
          <a:p>
            <a:r>
              <a:rPr lang="en-US" dirty="0"/>
              <a:t>Knowledge Graph </a:t>
            </a:r>
            <a:br>
              <a:rPr lang="en-US" dirty="0"/>
            </a:br>
            <a:r>
              <a:rPr lang="en-US" dirty="0"/>
              <a:t>Quality</a:t>
            </a:r>
          </a:p>
        </p:txBody>
      </p:sp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820CAC6E-D64E-28FE-D540-5CBB5FC5B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30" y="185353"/>
            <a:ext cx="6500311" cy="641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44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475B-D04D-A435-F76A-C7D914D49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03" y="290984"/>
            <a:ext cx="10515600" cy="524561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 Dependency (Enablement)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14DBD81E-34D7-9CF7-556D-4411AD079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19" y="960286"/>
            <a:ext cx="11475865" cy="560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35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031C-9D96-BE90-43F5-A8C85575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Structure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DF0A7CA9-47A2-E5C9-1DB5-050CCF036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4" y="1858444"/>
            <a:ext cx="10899664" cy="475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33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3269-EE27-47B0-7431-6BB53066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19" y="247135"/>
            <a:ext cx="10515600" cy="788645"/>
          </a:xfrm>
        </p:spPr>
        <p:txBody>
          <a:bodyPr>
            <a:normAutofit fontScale="90000"/>
          </a:bodyPr>
          <a:lstStyle/>
          <a:p>
            <a:r>
              <a:rPr lang="en-US" dirty="0"/>
              <a:t>Chapter Content </a:t>
            </a:r>
            <a:br>
              <a:rPr lang="en-US" dirty="0"/>
            </a:br>
            <a:r>
              <a:rPr lang="en-US" dirty="0"/>
              <a:t>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C4E1C-438D-BD34-30B5-215C48068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38" y="1627917"/>
            <a:ext cx="4030362" cy="21161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Rules to break up the “Wall of Text”</a:t>
            </a:r>
          </a:p>
          <a:p>
            <a:r>
              <a:rPr lang="en-US" dirty="0"/>
              <a:t>Placement of lists, tables, callouts, admonitions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D9CA38-89DF-91E4-16E2-2C2B7AD03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090" y="222420"/>
            <a:ext cx="7332056" cy="61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51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617F5-BCB8-D835-F632-06380FC6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B0FC3-25AD-CE21-56E0-FB154A717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22589" cy="4351338"/>
          </a:xfrm>
        </p:spPr>
        <p:txBody>
          <a:bodyPr/>
          <a:lstStyle/>
          <a:p>
            <a:r>
              <a:rPr lang="en-US" dirty="0"/>
              <a:t>Glossary</a:t>
            </a:r>
          </a:p>
          <a:p>
            <a:r>
              <a:rPr lang="en-US" dirty="0"/>
              <a:t>FAQ</a:t>
            </a:r>
          </a:p>
          <a:p>
            <a:r>
              <a:rPr lang="en-US" dirty="0"/>
              <a:t>Quizzes</a:t>
            </a:r>
          </a:p>
          <a:p>
            <a:r>
              <a:rPr lang="en-US" dirty="0"/>
              <a:t>References</a:t>
            </a:r>
          </a:p>
          <a:p>
            <a:r>
              <a:rPr lang="en-US" dirty="0"/>
              <a:t>Book Metrics</a:t>
            </a:r>
          </a:p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2466016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CAEF-4A2E-0D11-50F2-C0075D7F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46" y="377483"/>
            <a:ext cx="10515600" cy="660486"/>
          </a:xfrm>
        </p:spPr>
        <p:txBody>
          <a:bodyPr>
            <a:normAutofit fontScale="90000"/>
          </a:bodyPr>
          <a:lstStyle/>
          <a:p>
            <a:r>
              <a:rPr lang="en-US" dirty="0"/>
              <a:t>Wrap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CD20-05D9-FC94-02A8-D910D6FF6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did you like?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could we have done better?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Would you like to be able to teach this workshop?  Audience?</a:t>
            </a:r>
          </a:p>
        </p:txBody>
      </p:sp>
    </p:spTree>
    <p:extLst>
      <p:ext uri="{BB962C8B-B14F-4D97-AF65-F5344CB8AC3E}">
        <p14:creationId xmlns:p14="http://schemas.microsoft.com/office/powerpoint/2010/main" val="411680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3251</TotalTime>
  <Words>152</Words>
  <Application>Microsoft Macintosh PowerPoint</Application>
  <PresentationFormat>Widescreen</PresentationFormat>
  <Paragraphs>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Claude Skills for Intelligent Textbooks</vt:lpstr>
      <vt:lpstr>PowerPoint Presentation</vt:lpstr>
      <vt:lpstr>Five Levels of Intelligent Textbooks</vt:lpstr>
      <vt:lpstr>Bloom 2001 Taxonomy</vt:lpstr>
      <vt:lpstr>Installation Dependency Graph</vt:lpstr>
      <vt:lpstr>Book Build Workflow</vt:lpstr>
      <vt:lpstr>Course Description Quality</vt:lpstr>
      <vt:lpstr>List of Concepts</vt:lpstr>
      <vt:lpstr>Learning Graph</vt:lpstr>
      <vt:lpstr>Knowledge Graph  Quality</vt:lpstr>
      <vt:lpstr>Concept Dependency (Enablement)</vt:lpstr>
      <vt:lpstr>Chapter Structure</vt:lpstr>
      <vt:lpstr>Chapter Content  Generation</vt:lpstr>
      <vt:lpstr>Supplementary Content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3</cp:revision>
  <dcterms:created xsi:type="dcterms:W3CDTF">2025-11-01T17:54:42Z</dcterms:created>
  <dcterms:modified xsi:type="dcterms:W3CDTF">2025-12-01T22:30:26Z</dcterms:modified>
</cp:coreProperties>
</file>